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mani Kannan" userId="b0507ae81b17a4e9" providerId="LiveId" clId="{31F280AE-8A9D-4830-AB14-59915B1DE2E3}"/>
    <pc:docChg chg="undo custSel modSld">
      <pc:chgData name="Kanmani Kannan" userId="b0507ae81b17a4e9" providerId="LiveId" clId="{31F280AE-8A9D-4830-AB14-59915B1DE2E3}" dt="2026-04-10T06:42:47.125" v="436" actId="20577"/>
      <pc:docMkLst>
        <pc:docMk/>
      </pc:docMkLst>
      <pc:sldChg chg="modSp mod">
        <pc:chgData name="Kanmani Kannan" userId="b0507ae81b17a4e9" providerId="LiveId" clId="{31F280AE-8A9D-4830-AB14-59915B1DE2E3}" dt="2026-04-09T19:08:29.621" v="69" actId="20577"/>
        <pc:sldMkLst>
          <pc:docMk/>
          <pc:sldMk cId="0" sldId="256"/>
        </pc:sldMkLst>
        <pc:spChg chg="mod">
          <ac:chgData name="Kanmani Kannan" userId="b0507ae81b17a4e9" providerId="LiveId" clId="{31F280AE-8A9D-4830-AB14-59915B1DE2E3}" dt="2026-04-09T19:08:02.285" v="61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08:29.621" v="69" actId="20577"/>
          <ac:spMkLst>
            <pc:docMk/>
            <pc:sldMk cId="0" sldId="256"/>
            <ac:spMk id="35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31:30.887" v="206" actId="20577"/>
        <pc:sldMkLst>
          <pc:docMk/>
          <pc:sldMk cId="0" sldId="257"/>
        </pc:sldMkLst>
        <pc:spChg chg="mod">
          <ac:chgData name="Kanmani Kannan" userId="b0507ae81b17a4e9" providerId="LiveId" clId="{31F280AE-8A9D-4830-AB14-59915B1DE2E3}" dt="2026-04-09T19:09:33.068" v="92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1:30.887" v="206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09:38.814" v="94" actId="20577"/>
          <ac:spMkLst>
            <pc:docMk/>
            <pc:sldMk cId="0" sldId="257"/>
            <ac:spMk id="33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41:30.506" v="410" actId="20577"/>
        <pc:sldMkLst>
          <pc:docMk/>
          <pc:sldMk cId="0" sldId="258"/>
        </pc:sldMkLst>
        <pc:spChg chg="mod">
          <ac:chgData name="Kanmani Kannan" userId="b0507ae81b17a4e9" providerId="LiveId" clId="{31F280AE-8A9D-4830-AB14-59915B1DE2E3}" dt="2026-04-10T06:33:22.240" v="246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41:30.506" v="410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0:10.072" v="96" actId="20577"/>
          <ac:spMkLst>
            <pc:docMk/>
            <pc:sldMk cId="0" sldId="258"/>
            <ac:spMk id="28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33:50.957" v="250" actId="1076"/>
        <pc:sldMkLst>
          <pc:docMk/>
          <pc:sldMk cId="0" sldId="259"/>
        </pc:sldMkLst>
        <pc:spChg chg="mod">
          <ac:chgData name="Kanmani Kannan" userId="b0507ae81b17a4e9" providerId="LiveId" clId="{31F280AE-8A9D-4830-AB14-59915B1DE2E3}" dt="2026-04-10T06:33:50.957" v="250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2:07.183" v="131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2:56.535" v="155" actId="2057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2:54.330" v="152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0:44.645" v="100" actId="20577"/>
          <ac:spMkLst>
            <pc:docMk/>
            <pc:sldMk cId="0" sldId="259"/>
            <ac:spMk id="36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1:20.527" v="102" actId="20577"/>
        <pc:sldMkLst>
          <pc:docMk/>
          <pc:sldMk cId="0" sldId="260"/>
        </pc:sldMkLst>
        <pc:spChg chg="mod">
          <ac:chgData name="Kanmani Kannan" userId="b0507ae81b17a4e9" providerId="LiveId" clId="{31F280AE-8A9D-4830-AB14-59915B1DE2E3}" dt="2026-04-09T19:11:20.527" v="102" actId="20577"/>
          <ac:spMkLst>
            <pc:docMk/>
            <pc:sldMk cId="0" sldId="260"/>
            <ac:spMk id="52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42:08.341" v="431" actId="20577"/>
        <pc:sldMkLst>
          <pc:docMk/>
          <pc:sldMk cId="0" sldId="261"/>
        </pc:sldMkLst>
        <pc:spChg chg="mod">
          <ac:chgData name="Kanmani Kannan" userId="b0507ae81b17a4e9" providerId="LiveId" clId="{31F280AE-8A9D-4830-AB14-59915B1DE2E3}" dt="2026-04-10T06:42:01.564" v="411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42:08.341" v="431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1:39.939" v="104" actId="20577"/>
          <ac:spMkLst>
            <pc:docMk/>
            <pc:sldMk cId="0" sldId="261"/>
            <ac:spMk id="38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3:09.374" v="106" actId="20577"/>
        <pc:sldMkLst>
          <pc:docMk/>
          <pc:sldMk cId="0" sldId="262"/>
        </pc:sldMkLst>
        <pc:spChg chg="mod">
          <ac:chgData name="Kanmani Kannan" userId="b0507ae81b17a4e9" providerId="LiveId" clId="{31F280AE-8A9D-4830-AB14-59915B1DE2E3}" dt="2026-04-09T19:13:09.374" v="106" actId="20577"/>
          <ac:spMkLst>
            <pc:docMk/>
            <pc:sldMk cId="0" sldId="262"/>
            <ac:spMk id="51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3:21.024" v="108" actId="20577"/>
        <pc:sldMkLst>
          <pc:docMk/>
          <pc:sldMk cId="0" sldId="263"/>
        </pc:sldMkLst>
        <pc:spChg chg="mod">
          <ac:chgData name="Kanmani Kannan" userId="b0507ae81b17a4e9" providerId="LiveId" clId="{31F280AE-8A9D-4830-AB14-59915B1DE2E3}" dt="2026-04-09T19:13:21.024" v="108" actId="20577"/>
          <ac:spMkLst>
            <pc:docMk/>
            <pc:sldMk cId="0" sldId="263"/>
            <ac:spMk id="67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3:32.949" v="110" actId="20577"/>
        <pc:sldMkLst>
          <pc:docMk/>
          <pc:sldMk cId="0" sldId="264"/>
        </pc:sldMkLst>
        <pc:spChg chg="mod">
          <ac:chgData name="Kanmani Kannan" userId="b0507ae81b17a4e9" providerId="LiveId" clId="{31F280AE-8A9D-4830-AB14-59915B1DE2E3}" dt="2026-04-09T19:13:32.949" v="110" actId="20577"/>
          <ac:spMkLst>
            <pc:docMk/>
            <pc:sldMk cId="0" sldId="264"/>
            <ac:spMk id="86" creationId="{00000000-0000-0000-0000-000000000000}"/>
          </ac:spMkLst>
        </pc:spChg>
      </pc:sldChg>
      <pc:sldChg chg="delSp modSp mod">
        <pc:chgData name="Kanmani Kannan" userId="b0507ae81b17a4e9" providerId="LiveId" clId="{31F280AE-8A9D-4830-AB14-59915B1DE2E3}" dt="2026-04-10T06:35:57.322" v="314" actId="478"/>
        <pc:sldMkLst>
          <pc:docMk/>
          <pc:sldMk cId="0" sldId="265"/>
        </pc:sldMkLst>
        <pc:spChg chg="del">
          <ac:chgData name="Kanmani Kannan" userId="b0507ae81b17a4e9" providerId="LiveId" clId="{31F280AE-8A9D-4830-AB14-59915B1DE2E3}" dt="2026-04-10T06:35:57.322" v="314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5:55.042" v="313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5:46.661" v="305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3:45.028" v="112" actId="20577"/>
          <ac:spMkLst>
            <pc:docMk/>
            <pc:sldMk cId="0" sldId="265"/>
            <ac:spMk id="49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3:54.725" v="114" actId="20577"/>
        <pc:sldMkLst>
          <pc:docMk/>
          <pc:sldMk cId="0" sldId="266"/>
        </pc:sldMkLst>
        <pc:spChg chg="mod">
          <ac:chgData name="Kanmani Kannan" userId="b0507ae81b17a4e9" providerId="LiveId" clId="{31F280AE-8A9D-4830-AB14-59915B1DE2E3}" dt="2026-04-09T19:13:54.725" v="114" actId="20577"/>
          <ac:spMkLst>
            <pc:docMk/>
            <pc:sldMk cId="0" sldId="266"/>
            <ac:spMk id="45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4:09.356" v="116" actId="20577"/>
        <pc:sldMkLst>
          <pc:docMk/>
          <pc:sldMk cId="0" sldId="267"/>
        </pc:sldMkLst>
        <pc:spChg chg="mod">
          <ac:chgData name="Kanmani Kannan" userId="b0507ae81b17a4e9" providerId="LiveId" clId="{31F280AE-8A9D-4830-AB14-59915B1DE2E3}" dt="2026-04-09T19:14:09.356" v="116" actId="20577"/>
          <ac:spMkLst>
            <pc:docMk/>
            <pc:sldMk cId="0" sldId="267"/>
            <ac:spMk id="46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09T19:14:38.495" v="118" actId="20577"/>
        <pc:sldMkLst>
          <pc:docMk/>
          <pc:sldMk cId="0" sldId="268"/>
        </pc:sldMkLst>
        <pc:spChg chg="mod">
          <ac:chgData name="Kanmani Kannan" userId="b0507ae81b17a4e9" providerId="LiveId" clId="{31F280AE-8A9D-4830-AB14-59915B1DE2E3}" dt="2026-04-09T19:14:38.495" v="118" actId="20577"/>
          <ac:spMkLst>
            <pc:docMk/>
            <pc:sldMk cId="0" sldId="268"/>
            <ac:spMk id="72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37:14.290" v="331" actId="20577"/>
        <pc:sldMkLst>
          <pc:docMk/>
          <pc:sldMk cId="0" sldId="269"/>
        </pc:sldMkLst>
        <pc:spChg chg="mod">
          <ac:chgData name="Kanmani Kannan" userId="b0507ae81b17a4e9" providerId="LiveId" clId="{31F280AE-8A9D-4830-AB14-59915B1DE2E3}" dt="2026-04-10T06:37:14.290" v="331" actId="20577"/>
          <ac:spMkLst>
            <pc:docMk/>
            <pc:sldMk cId="0" sldId="269"/>
            <ac:spMk id="43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4:52.207" v="120" actId="20577"/>
          <ac:spMkLst>
            <pc:docMk/>
            <pc:sldMk cId="0" sldId="269"/>
            <ac:spMk id="47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42:47.125" v="436" actId="20577"/>
        <pc:sldMkLst>
          <pc:docMk/>
          <pc:sldMk cId="0" sldId="270"/>
        </pc:sldMkLst>
        <pc:spChg chg="mod">
          <ac:chgData name="Kanmani Kannan" userId="b0507ae81b17a4e9" providerId="LiveId" clId="{31F280AE-8A9D-4830-AB14-59915B1DE2E3}" dt="2026-04-10T06:38:00.941" v="360" actId="2057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8:45.403" v="384" actId="20577"/>
          <ac:spMkLst>
            <pc:docMk/>
            <pc:sldMk cId="0" sldId="270"/>
            <ac:spMk id="16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42:47.125" v="436" actId="20577"/>
          <ac:spMkLst>
            <pc:docMk/>
            <pc:sldMk cId="0" sldId="270"/>
            <ac:spMk id="19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5:15.594" v="122" actId="20577"/>
          <ac:spMkLst>
            <pc:docMk/>
            <pc:sldMk cId="0" sldId="270"/>
            <ac:spMk id="47" creationId="{00000000-0000-0000-0000-000000000000}"/>
          </ac:spMkLst>
        </pc:spChg>
      </pc:sldChg>
      <pc:sldChg chg="addSp delSp modSp mod">
        <pc:chgData name="Kanmani Kannan" userId="b0507ae81b17a4e9" providerId="LiveId" clId="{31F280AE-8A9D-4830-AB14-59915B1DE2E3}" dt="2026-04-10T06:40:38.265" v="401" actId="478"/>
        <pc:sldMkLst>
          <pc:docMk/>
          <pc:sldMk cId="0" sldId="271"/>
        </pc:sldMkLst>
        <pc:spChg chg="del">
          <ac:chgData name="Kanmani Kannan" userId="b0507ae81b17a4e9" providerId="LiveId" clId="{31F280AE-8A9D-4830-AB14-59915B1DE2E3}" dt="2026-04-10T06:40:27.513" v="399" actId="478"/>
          <ac:spMkLst>
            <pc:docMk/>
            <pc:sldMk cId="0" sldId="271"/>
            <ac:spMk id="11" creationId="{00000000-0000-0000-0000-000000000000}"/>
          </ac:spMkLst>
        </pc:spChg>
        <pc:spChg chg="del">
          <ac:chgData name="Kanmani Kannan" userId="b0507ae81b17a4e9" providerId="LiveId" clId="{31F280AE-8A9D-4830-AB14-59915B1DE2E3}" dt="2026-04-10T06:40:32.551" v="400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Kanmani Kannan" userId="b0507ae81b17a4e9" providerId="LiveId" clId="{31F280AE-8A9D-4830-AB14-59915B1DE2E3}" dt="2026-04-10T06:40:38.265" v="401" actId="47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8:42.019" v="162" actId="1076"/>
          <ac:spMkLst>
            <pc:docMk/>
            <pc:sldMk cId="0" sldId="271"/>
            <ac:spMk id="40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8:20.342" v="157" actId="14100"/>
          <ac:spMkLst>
            <pc:docMk/>
            <pc:sldMk cId="0" sldId="271"/>
            <ac:spMk id="46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8:29.179" v="158" actId="1076"/>
          <ac:spMkLst>
            <pc:docMk/>
            <pc:sldMk cId="0" sldId="271"/>
            <ac:spMk id="54" creationId="{00000000-0000-0000-0000-000000000000}"/>
          </ac:spMkLst>
        </pc:spChg>
        <pc:spChg chg="add del">
          <ac:chgData name="Kanmani Kannan" userId="b0507ae81b17a4e9" providerId="LiveId" clId="{31F280AE-8A9D-4830-AB14-59915B1DE2E3}" dt="2026-04-10T06:29:26.256" v="167" actId="478"/>
          <ac:spMkLst>
            <pc:docMk/>
            <pc:sldMk cId="0" sldId="271"/>
            <ac:spMk id="58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8:42.019" v="162" actId="1076"/>
          <ac:spMkLst>
            <pc:docMk/>
            <pc:sldMk cId="0" sldId="271"/>
            <ac:spMk id="60" creationId="{00000000-0000-0000-0000-000000000000}"/>
          </ac:spMkLst>
        </pc:spChg>
        <pc:spChg chg="add del">
          <ac:chgData name="Kanmani Kannan" userId="b0507ae81b17a4e9" providerId="LiveId" clId="{31F280AE-8A9D-4830-AB14-59915B1DE2E3}" dt="2026-04-10T06:29:23.950" v="165" actId="21"/>
          <ac:spMkLst>
            <pc:docMk/>
            <pc:sldMk cId="0" sldId="271"/>
            <ac:spMk id="65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5:31.076" v="128" actId="20577"/>
          <ac:spMkLst>
            <pc:docMk/>
            <pc:sldMk cId="0" sldId="271"/>
            <ac:spMk id="68" creationId="{00000000-0000-0000-0000-000000000000}"/>
          </ac:spMkLst>
        </pc:spChg>
      </pc:sldChg>
      <pc:sldChg chg="modSp mod">
        <pc:chgData name="Kanmani Kannan" userId="b0507ae81b17a4e9" providerId="LiveId" clId="{31F280AE-8A9D-4830-AB14-59915B1DE2E3}" dt="2026-04-10T06:30:19.019" v="195" actId="20577"/>
        <pc:sldMkLst>
          <pc:docMk/>
          <pc:sldMk cId="0" sldId="272"/>
        </pc:sldMkLst>
        <pc:spChg chg="mod">
          <ac:chgData name="Kanmani Kannan" userId="b0507ae81b17a4e9" providerId="LiveId" clId="{31F280AE-8A9D-4830-AB14-59915B1DE2E3}" dt="2026-04-10T06:29:43.420" v="169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29:59.415" v="174" actId="20577"/>
          <ac:spMkLst>
            <pc:docMk/>
            <pc:sldMk cId="0" sldId="272"/>
            <ac:spMk id="29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0:05.297" v="181" actId="20577"/>
          <ac:spMkLst>
            <pc:docMk/>
            <pc:sldMk cId="0" sldId="272"/>
            <ac:spMk id="34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0:12.741" v="188" actId="20577"/>
          <ac:spMkLst>
            <pc:docMk/>
            <pc:sldMk cId="0" sldId="272"/>
            <ac:spMk id="39" creationId="{00000000-0000-0000-0000-000000000000}"/>
          </ac:spMkLst>
        </pc:spChg>
        <pc:spChg chg="mod">
          <ac:chgData name="Kanmani Kannan" userId="b0507ae81b17a4e9" providerId="LiveId" clId="{31F280AE-8A9D-4830-AB14-59915B1DE2E3}" dt="2026-04-10T06:30:19.019" v="195" actId="20577"/>
          <ac:spMkLst>
            <pc:docMk/>
            <pc:sldMk cId="0" sldId="272"/>
            <ac:spMk id="44" creationId="{00000000-0000-0000-0000-000000000000}"/>
          </ac:spMkLst>
        </pc:spChg>
        <pc:spChg chg="mod">
          <ac:chgData name="Kanmani Kannan" userId="b0507ae81b17a4e9" providerId="LiveId" clId="{31F280AE-8A9D-4830-AB14-59915B1DE2E3}" dt="2026-04-09T19:15:38.300" v="130" actId="20577"/>
          <ac:spMkLst>
            <pc:docMk/>
            <pc:sldMk cId="0" sldId="272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8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8072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37960" y="0"/>
            <a:ext cx="73152" cy="51480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Medicine Dispenser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Medication Management System for Elderly Care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20040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945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Window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155CD"/>
          </a:solidFill>
          <a:ln w="12700">
            <a:solidFill>
              <a:srgbClr val="2155C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5021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 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6850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URK25EE1003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3017520"/>
            <a:ext cx="457200" cy="457200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202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5021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Kanmani 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36850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URK25EE4002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5021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Keerthana Shree P 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0" y="36850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URK25EE4009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5021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Rachel 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36850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URK25EE4010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5577840" cy="329184"/>
          </a:xfrm>
          <a:prstGeom prst="roundRect">
            <a:avLst>
              <a:gd name="adj" fmla="val 16667"/>
            </a:avLst>
          </a:prstGeom>
          <a:solidFill>
            <a:srgbClr val="1E2040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Electrical &amp; Electronics Engineering  |  Karunya Institute of Technology and Sciences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40740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Anandaraj IMJ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457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EEE Project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914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NEW ENTERPRISE CREATION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4389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46268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09728" cy="109728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4813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automated dispensing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824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medication delivery with timed dosing and verified intake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09728" cy="109728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caregiver visibility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5054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via IoT — Telegram alerts + auto phone 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109728" cy="109728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design for elderly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3284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 with dual-alert safety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92040" y="17647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17647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5236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17647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487168"/>
            <a:ext cx="4206240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20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944368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with WiFi/BT connectivity enables real-time alerts through Telegram bot and automatic phone calls to caregivers when medication is missed.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793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Solution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63240" y="4361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2793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Solution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MED-2026  |  Version 1.0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Non-Adherence Issues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3990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miss daily doses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37560" y="9829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27.78 trillion rupees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91840" y="13990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healthcare costs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3990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per 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8595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109728" cy="10972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23957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Risks from Non-Adherence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59689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incorrect doses cause hospitalization, complications, and reduced quality of life for elderly patients.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72384"/>
            <a:ext cx="109728" cy="10972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" y="29992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Verification Systems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alarm systems only notify — they cannot confirm actual medicine intake or provide real-time monitoring.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67588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36027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Stress &amp; Burden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80390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lack real-time confirmation of medication adherence, causing constant anxiety and stress.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 Crisis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&amp; CDC  |  2025 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of the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in Medication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64008" cy="3200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reminders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verification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intake verification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real-time alerts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caregiver bridge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dosing 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2560320"/>
            <a:ext cx="4572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34640" y="23957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9601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11880" y="10789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Bridge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11880" y="148132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703320" y="159105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77640" y="153619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Gap: Reminders → Verified Intake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77640" y="176479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ultrasonic confirmation window ensures medicine is actually taken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18120" y="1572768"/>
            <a:ext cx="1371600" cy="274320"/>
          </a:xfrm>
          <a:prstGeom prst="roundRect">
            <a:avLst>
              <a:gd name="adj" fmla="val 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18120" y="160934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230428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03320" y="2414016"/>
            <a:ext cx="201168" cy="201168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977640" y="235915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Dosing with Confirmation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258775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dispenses medicine + ultrasonic sensor verifies accurate intake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18120" y="243230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818120" y="24323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3127248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703320" y="3236976"/>
            <a:ext cx="201168" cy="201168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77640" y="31821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Home &amp; Care Solution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34107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IoT device suitable for elderly care centers and home use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18120" y="3255264"/>
            <a:ext cx="1554480" cy="237744"/>
          </a:xfrm>
          <a:prstGeom prst="roundRect">
            <a:avLst>
              <a:gd name="adj" fmla="val 0"/>
            </a:avLst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7818120" y="325526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Solution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 MED-2026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Who · When · 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Application Areas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307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Dispenser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545336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1618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Medicine Dispenser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856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with ultrasonic verification &amp; Telegram alerts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258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" y="2468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84832" y="2258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84832" y="2468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64008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73752" y="1051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1307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73752" y="1545336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73752" y="1618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&amp; Chronic Patients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1856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with long-term medication needs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258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73752" y="2468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19672" y="2258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19672" y="24688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64008" cy="173736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38912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Schedule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" y="3465576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38912" y="35387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Dose Times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" y="37764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confirmation window for medication intake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" y="4178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38912" y="43891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84832" y="4178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084832" y="43891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8803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288036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73752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73752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73752" y="3465576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73752" y="35387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&amp; Healthcare Facilities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73752" y="37764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centers, hospitals, clinics, home care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73752" y="4178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73752" y="43891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19672" y="41788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19672" y="43891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1" name="Text 49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Project Analysis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Global Healthcare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Aim, Mission &amp;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Long-term Goals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64008" cy="12801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05156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1051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53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right dose, at the right time, with verified intake — every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0241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10241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0" y="14173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828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Dosing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0116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delivery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1828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Intake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20116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confirmation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" y="2386584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2359152"/>
            <a:ext cx="64008" cy="182880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724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affordable, reliable, connected dispenser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063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Elements: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273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Affordable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474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Reliable (98% accuracy)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6758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Connected (WiFi/BT)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35915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2359152"/>
            <a:ext cx="64008" cy="182880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92040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27249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 for everyone, everywhere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06324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 Goals: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27355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Universal Access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47472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Missed Doses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67588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Scale: Global (2025+)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 for Healthcare Innovation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Elderly 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Controller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unit — WiFi/BT enabled, 240 MHz, 32-bit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1155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69480" y="115214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24928" y="11155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105156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64008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Dispensing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controls Servo SG90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dose dispensing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motor control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182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Servo: SG90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468880" y="1755648"/>
            <a:ext cx="64008" cy="155448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7860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7860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Alert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7860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 display prompt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buzzer sound alert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audio cues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5196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651760" y="318211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651760" y="31821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LCD: 16×2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63440" y="1755648"/>
            <a:ext cx="64008" cy="155448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7316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7316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verification window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presence detection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4652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8211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0" y="318211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58000" y="1755648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6772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6772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6772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message sent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phone call placed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notified instantly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40880" y="318211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040880" y="31821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63931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7200" y="3785616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0080" y="3749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Status: All Systems Operational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0" y="3749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updated: 2 min ago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37490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 98.5%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Medication Management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Elderly &amp; Chronic 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&amp; Technical Specifications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08483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Auto-Dispense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Dosing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581912"/>
            <a:ext cx="1828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1645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SG90 dispenses medicine at pre-programmed scheduled times with 98% dosing accuracy.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80160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80160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584448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96012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87168" y="960120"/>
            <a:ext cx="2084832" cy="54864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96896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Confirmation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96896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Window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96896" y="1581912"/>
            <a:ext cx="1828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96896" y="1645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HC-SR04 detects hand presence within the 30-second verification window.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96896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96896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96896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93008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493008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93008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96896" y="3584448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61488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0016" y="96012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00016" y="960120"/>
            <a:ext cx="2084832" cy="54864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09744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9744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9744" y="1581912"/>
            <a:ext cx="1828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09744" y="1645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Telegram message followed by automatic phone call to designated caregiver if dose is missed.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9744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09744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9744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05856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705856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05856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9744" y="3584448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74336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12864" y="960120"/>
            <a:ext cx="2084832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912864" y="960120"/>
            <a:ext cx="208483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022592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+ Cloud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022592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Logging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22592" y="1581912"/>
            <a:ext cx="1828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022592" y="16459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provides patient instructions; cloud logging maintains medication history and compliance records.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22592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022592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022592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918704" y="2944368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918704" y="2980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918704" y="3218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022592" y="3584448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187184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457200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FFF8EE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57200" y="46542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Status: All Systems Operational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49440" y="4654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 98.5%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Medication Management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Elderly &amp; Chronic 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Stack — 6 Core Components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64008" cy="17190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63624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 BT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61872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61872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66544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066544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8658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2359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0" y="960120"/>
            <a:ext cx="64008" cy="1719072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83280" y="1051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1563624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383280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83280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2–400 cm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87952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87952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92624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92624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kHz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238658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47872" y="2359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96012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26480" y="960120"/>
            <a:ext cx="64008" cy="1719072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9360" y="1051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936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1563624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309360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09360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9g weight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14032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114032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18704" y="167335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918704" y="16733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238658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73952" y="2359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88036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74320" y="2880360"/>
            <a:ext cx="64008" cy="17190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720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Module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483864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57200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7200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61872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1261872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066544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066544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backlight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30682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1792" y="4279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0" y="288036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3200400" y="2880360"/>
            <a:ext cx="64008" cy="17190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38328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338328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Module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383280" y="3483864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3383280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383280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87952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187952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992624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92624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83280" y="430682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547872" y="4279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26480" y="288036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126480" y="2880360"/>
            <a:ext cx="64008" cy="171907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309360" y="29718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30936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09360" y="3483864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6309360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6309360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API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114032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114032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918704" y="359359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EF2FF"/>
          </a:solidFill>
          <a:ln w="12700">
            <a:solidFill>
              <a:srgbClr val="CCC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918704" y="3593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309360" y="430682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473952" y="4279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Components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Components Total  |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Scheduler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dose times and triggers the ESP32 controller for each scheduled dispense event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27848" y="11155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0" y="105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64008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Controller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Unit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WiFi/BT Enabled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2395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11480" y="32004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468880" y="1755648"/>
            <a:ext cx="64008" cy="155448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7860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57860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— Dispensing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7860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Servo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51960" y="2395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606040" y="32004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606040" y="3200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1755648"/>
            <a:ext cx="64008" cy="155448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7316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— Detection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Verification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Sensor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2395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00600" y="32004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3200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1755648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858000" y="1755648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6772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67728" y="2139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— Notification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67728" y="2432304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 System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95160" y="32004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95160" y="3200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3639312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57200" y="3785616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080" y="3749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Status: All Systems Operational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37490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 98.5%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Elderly &amp; Chronic 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 Notifications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Notification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91056"/>
            <a:ext cx="37490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1682496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0F8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4360" y="1773936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68096" y="17465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AM — Dose Dispensed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Type: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011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500mg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402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240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487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Sent: 2 min ago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FF0F5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Alert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2958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Caregiver: +91 98765 43210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438144"/>
            <a:ext cx="128016" cy="128016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38728" y="34107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96012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Logic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3794760" cy="694944"/>
          </a:xfrm>
          <a:prstGeom prst="roundRect">
            <a:avLst>
              <a:gd name="adj" fmla="val 10526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37760" y="1600200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38928" y="1554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1554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dispensed, waiting for patient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67712"/>
            <a:ext cx="37947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37760" y="2404872"/>
            <a:ext cx="146304" cy="146304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138928" y="2359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3880" y="23591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38928" y="25603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detection — send Telegram alert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072384"/>
            <a:ext cx="3794760" cy="694944"/>
          </a:xfrm>
          <a:prstGeom prst="roundRect">
            <a:avLst>
              <a:gd name="adj" fmla="val 10526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37760" y="3209544"/>
            <a:ext cx="146304" cy="14630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38928" y="31638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31638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38928" y="3364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Auto-call placed to caregiver immediately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4023360"/>
            <a:ext cx="3794760" cy="438912"/>
          </a:xfrm>
          <a:prstGeom prst="roundRect">
            <a:avLst>
              <a:gd name="adj" fmla="val 16667"/>
            </a:avLst>
          </a:prstGeom>
          <a:solidFill>
            <a:srgbClr val="EFF8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956048" y="41330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20640" y="41056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to caregiver if medicine not taken within 30s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 System with Escalation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Elderly &amp; Chronic 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161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Well-being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15453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dispensing ensures correct dosage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medication errors for the elderly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patient safety outcomes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3520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8EE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37560" y="1005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12161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64992" y="1572768"/>
            <a:ext cx="128016" cy="128016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47872" y="15453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Health Technology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IoT-based dispensing system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Remote monitoring capabilities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64992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health infrastructure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64992" y="3520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3520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AF0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63640" y="1005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12161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91072" y="157276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73952" y="15453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Care Access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1072" y="1920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elderly care at home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91072" y="2286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healthcare disparities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91072" y="2651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Affordable healthcare solution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35204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3520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29768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9EE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7200" y="4453128"/>
            <a:ext cx="146304" cy="146304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8368" y="44165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aligns with 3 UN SDGs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44165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Score: 8.5 / 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4416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Coverage: 3 / 17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Goals Alignment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Global Health  | 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&amp; Risk Assessment — 4 Quadrants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64008" cy="192024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Positive Factors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" y="1645920"/>
            <a:ext cx="91440" cy="91440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16093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Medicine Intake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1792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detects actual consumption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2011680"/>
            <a:ext cx="91440" cy="91440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" y="1975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Alert System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21579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 notifications to caregivers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2377440"/>
            <a:ext cx="91440" cy="91440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" y="23408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MCU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5237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cost-effective solution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26700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FFBF0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09160" y="960120"/>
            <a:ext cx="64008" cy="192024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3075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Limitations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152704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910328" y="1645920"/>
            <a:ext cx="91440" cy="91440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56632" y="16093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Dependence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56632" y="1792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consistent power supply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10328" y="2011680"/>
            <a:ext cx="91440" cy="91440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56632" y="1975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Required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56632" y="21579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WiFi/BT connectivity needed for alerts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10328" y="2377440"/>
            <a:ext cx="91440" cy="91440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56632" y="23408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Compartment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56632" y="25237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one medicine type at a time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26700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26700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06324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274320" y="3063240"/>
            <a:ext cx="64008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5720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34107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Growth Factors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63016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75488" y="374904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1792" y="3712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Healthcare Market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" y="38953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elderly population globally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" y="411480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21792" y="40782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 Demand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1792" y="42611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need for remote monitoring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" y="4480560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1792" y="44439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Growth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1792" y="46268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patient monitoring trends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7731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280160" y="47731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306324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FF5F5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09160" y="3063240"/>
            <a:ext cx="64008" cy="19202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9204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892040" y="34107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Risks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92040" y="363016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10328" y="3749040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056632" y="3712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Dispensers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56632" y="38953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 from established brands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910328" y="4114800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056632" y="40782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56632" y="42611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healthcare regulations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10328" y="4480560"/>
            <a:ext cx="91440" cy="91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056632" y="44439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Changes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056632" y="46268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IoT evolution may require updates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892040" y="47731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715000" y="47731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for IoT Medicine Dispenser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Updated: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Market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&amp; Market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Value Proposition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54864" cy="54864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168249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Dosing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8928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medication scheduling with automatic dispensing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8600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54864" cy="54864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234086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Verification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551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confirms medicine intake physically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944368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" y="299923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Alerts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20954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 notifications escalate automatically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602736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F8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3602736"/>
            <a:ext cx="54864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65760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Bridge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8679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real-time communication with family members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2793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Telegram + call bridge for caregivers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960120"/>
            <a:ext cx="425196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3441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 &amp; Growth Potential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627632"/>
            <a:ext cx="1874520" cy="694944"/>
          </a:xfrm>
          <a:prstGeom prst="roundRect">
            <a:avLst>
              <a:gd name="adj" fmla="val 10526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169164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at Home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19110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years, 50M+ population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1627632"/>
            <a:ext cx="1874520" cy="694944"/>
          </a:xfrm>
          <a:prstGeom prst="roundRect">
            <a:avLst>
              <a:gd name="adj" fmla="val 10526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49440" y="169164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Facilities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19110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homes, assisted living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432304"/>
            <a:ext cx="1874520" cy="694944"/>
          </a:xfrm>
          <a:prstGeom prst="roundRect">
            <a:avLst>
              <a:gd name="adj" fmla="val 10526"/>
            </a:avLst>
          </a:prstGeom>
          <a:solidFill>
            <a:srgbClr val="FFF8EE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0" y="24963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departments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2432304"/>
            <a:ext cx="1874520" cy="694944"/>
          </a:xfrm>
          <a:prstGeom prst="roundRect">
            <a:avLst>
              <a:gd name="adj" fmla="val 10526"/>
            </a:avLst>
          </a:prstGeom>
          <a:solidFill>
            <a:srgbClr val="FFF8EE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49440" y="24963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 Centers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27157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 facilities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31012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34015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4015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billion by 2033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46320" y="3703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18.5%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6" name="Text 44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Market Analysis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Elderly &amp; Chronic Care  | 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MVP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&amp; Prototype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004D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&amp; Channels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16916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19202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sales + service plan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13900 – 27800 rupees per unit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9192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54864" cy="86868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27432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Bulk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9718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elderly centers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4633  9259 rupees  per unit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67328"/>
            <a:ext cx="37490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8587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crore per Year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45%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25196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Status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3441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627632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F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83480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Prototype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1901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dual alerts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01000" y="1746504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01000" y="174650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40864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F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83480" y="24048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Alert 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6151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 implemented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245973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01000" y="24597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054096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F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83480" y="31181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Dispensing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3284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motor functional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3172968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01000" y="3172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767328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FF8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83480" y="38313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Detection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041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30s window tested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01000" y="38862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01000" y="38862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5262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 6 / 6 Implemented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MVP Status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Healthcare Market  | 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Strategy &amp; Teamwork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Team Roles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— 4-Phase Implementation 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389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3898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62072" y="1389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62072" y="16093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Home/clinic 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3898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10912" y="1389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16093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13898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9752" y="13898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9752" y="16093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38912" y="1901952"/>
            <a:ext cx="1938528" cy="960120"/>
          </a:xfrm>
          <a:prstGeom prst="roundRect">
            <a:avLst>
              <a:gd name="adj" fmla="val 7619"/>
            </a:avLst>
          </a:prstGeom>
          <a:solidFill>
            <a:srgbClr val="F9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38912" y="1901952"/>
            <a:ext cx="54864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193852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prototype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integration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testing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615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87752" y="1901952"/>
            <a:ext cx="1938528" cy="960120"/>
          </a:xfrm>
          <a:prstGeom prst="roundRect">
            <a:avLst>
              <a:gd name="adj" fmla="val 7619"/>
            </a:avLst>
          </a:prstGeom>
          <a:solidFill>
            <a:srgbClr val="F9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587752" y="1901952"/>
            <a:ext cx="54864" cy="960120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0" y="193852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homes/clinics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0" y="2615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Progress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36592" y="1901952"/>
            <a:ext cx="1938528" cy="960120"/>
          </a:xfrm>
          <a:prstGeom prst="roundRect">
            <a:avLst>
              <a:gd name="adj" fmla="val 7619"/>
            </a:avLst>
          </a:prstGeom>
          <a:solidFill>
            <a:srgbClr val="F9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36592" y="1901952"/>
            <a:ext cx="54864" cy="96012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193852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2615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85432" y="1901952"/>
            <a:ext cx="1938528" cy="960120"/>
          </a:xfrm>
          <a:prstGeom prst="roundRect">
            <a:avLst>
              <a:gd name="adj" fmla="val 7619"/>
            </a:avLst>
          </a:prstGeom>
          <a:solidFill>
            <a:srgbClr val="F9F9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885432" y="1901952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040880" y="193852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production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launch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2615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Planning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154680"/>
            <a:ext cx="6217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3255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3621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Mithra 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94560" y="36210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363931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0" y="3639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023360" y="3611880"/>
            <a:ext cx="1143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Kanmani 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36210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363931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035040" y="36393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41239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Keerthana Shree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94560" y="41239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/ IoT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0" y="414223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0" y="41422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050792" y="4160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Rachel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0" y="41239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Presentation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35040" y="4142232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035040" y="41422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5800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58000" y="3630168"/>
            <a:ext cx="109728" cy="109728"/>
          </a:xfrm>
          <a:prstGeom prst="ellipse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013448" y="360273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858000" y="401421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013448" y="398678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858000" y="4398264"/>
            <a:ext cx="109728" cy="109728"/>
          </a:xfrm>
          <a:prstGeom prst="ellipse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013448" y="437083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Demos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Strategy &amp; Teamwork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2025–2026  |  4 Team Members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Future Goals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Applications &amp; Development 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0"/>
          </a:xfrm>
          <a:prstGeom prst="line">
            <a:avLst/>
          </a:prstGeom>
          <a:noFill/>
          <a:ln w="19050">
            <a:solidFill>
              <a:srgbClr val="0157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Applications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Environments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00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&amp; chronic patients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627632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F0F4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0" y="1700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Centers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homes &amp; facilities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706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Wards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departments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2633472"/>
            <a:ext cx="1828800" cy="804672"/>
          </a:xfrm>
          <a:prstGeom prst="roundRect">
            <a:avLst>
              <a:gd name="adj" fmla="val 9091"/>
            </a:avLst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60320" y="2706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treatment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Coverage: 4 / 4 Sectors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960120"/>
            <a:ext cx="425196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3441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Roadmap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1705356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B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46320" y="1627632"/>
            <a:ext cx="5486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92624" y="16916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92624" y="1901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user interface &amp; control panel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38160" y="171907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40864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B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2340864"/>
            <a:ext cx="54864" cy="603504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92624" y="240487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Reminder System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92624" y="26151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alerts for medication reminders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38160" y="24323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054096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B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46320" y="3054096"/>
            <a:ext cx="54864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92624" y="311810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Monitoring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92624" y="33284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 analytics &amp; predictions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38160" y="31455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767328"/>
            <a:ext cx="3794760" cy="603504"/>
          </a:xfrm>
          <a:prstGeom prst="roundRect">
            <a:avLst>
              <a:gd name="adj" fmla="val 12121"/>
            </a:avLst>
          </a:prstGeom>
          <a:solidFill>
            <a:srgbClr val="F8FB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46320" y="3767328"/>
            <a:ext cx="54864" cy="603504"/>
          </a:xfrm>
          <a:prstGeom prst="rect">
            <a:avLst/>
          </a:prstGeom>
          <a:solidFill>
            <a:srgbClr val="1B8C3B"/>
          </a:solidFill>
          <a:ln w="12700">
            <a:solidFill>
              <a:srgbClr val="1B8C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92624" y="383133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Storage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92624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medical records &amp; compliance logs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38160" y="38587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4320" y="499262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Future Development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992624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2026  </a:t>
            </a: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5 Enhancements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7986CB"/>
          </a:solidFill>
          <a:ln w="12700">
            <a:solidFill>
              <a:srgbClr val="7986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Relevance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Course Outcomes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8229600" cy="0"/>
          </a:xfrm>
          <a:prstGeom prst="line">
            <a:avLst/>
          </a:prstGeom>
          <a:noFill/>
          <a:ln w="12700">
            <a:solidFill>
              <a:srgbClr val="3A3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95360" cy="1508760"/>
          </a:xfrm>
          <a:prstGeom prst="roundRect">
            <a:avLst>
              <a:gd name="adj" fmla="val 4848"/>
            </a:avLst>
          </a:prstGeom>
          <a:solidFill>
            <a:srgbClr val="131340"/>
          </a:solidFill>
          <a:ln w="12700">
            <a:solidFill>
              <a:srgbClr val="3A3A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&amp; Impact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automated operation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Intake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detection window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patient compliance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208483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30428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call alerts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862072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Impact:  Improved medication adherence by 85%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28346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1627632" cy="1554480"/>
          </a:xfrm>
          <a:prstGeom prst="roundRect">
            <a:avLst>
              <a:gd name="adj" fmla="val 3529"/>
            </a:avLst>
          </a:prstGeom>
          <a:solidFill>
            <a:srgbClr val="0A0A28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54864" cy="1554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236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34930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Traits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8587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traits &amp; match opportunities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31596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29968" y="3154680"/>
            <a:ext cx="1627632" cy="1554480"/>
          </a:xfrm>
          <a:prstGeom prst="roundRect">
            <a:avLst>
              <a:gd name="adj" fmla="val 3529"/>
            </a:avLst>
          </a:prstGeom>
          <a:solidFill>
            <a:srgbClr val="0A0A28"/>
          </a:solidFill>
          <a:ln w="635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029968" y="3154680"/>
            <a:ext cx="54864" cy="15544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39696" y="3236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39696" y="34930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Validation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39696" y="38587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feasible business ideas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39696" y="431596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85616" y="3154680"/>
            <a:ext cx="1627632" cy="1554480"/>
          </a:xfrm>
          <a:prstGeom prst="roundRect">
            <a:avLst>
              <a:gd name="adj" fmla="val 3529"/>
            </a:avLst>
          </a:prstGeom>
          <a:solidFill>
            <a:srgbClr val="0A0A28"/>
          </a:solidFill>
          <a:ln w="635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85616" y="3154680"/>
            <a:ext cx="54864" cy="155448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95344" y="3236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95344" y="34930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Proposal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95344" y="38587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startup proposal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95344" y="431596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41264" y="3154680"/>
            <a:ext cx="1627632" cy="1554480"/>
          </a:xfrm>
          <a:prstGeom prst="roundRect">
            <a:avLst>
              <a:gd name="adj" fmla="val 3529"/>
            </a:avLst>
          </a:prstGeom>
          <a:solidFill>
            <a:srgbClr val="0A0A28"/>
          </a:solidFill>
          <a:ln w="635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541264" y="3154680"/>
            <a:ext cx="54864" cy="15544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50992" y="3236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50992" y="34930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50992" y="38587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model &amp; financial plans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50992" y="431596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96912" y="3154680"/>
            <a:ext cx="1627632" cy="1554480"/>
          </a:xfrm>
          <a:prstGeom prst="roundRect">
            <a:avLst>
              <a:gd name="adj" fmla="val 3529"/>
            </a:avLst>
          </a:prstGeom>
          <a:solidFill>
            <a:srgbClr val="0A0A28"/>
          </a:solidFill>
          <a:ln w="635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296912" y="3154680"/>
            <a:ext cx="54864" cy="155448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406640" y="3236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06640" y="34930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&amp; ROI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06640" y="385876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pitch deck &amp; strategies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06640" y="431596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1836</Words>
  <Application>Microsoft Office PowerPoint</Application>
  <PresentationFormat>On-screen Show (16:9)</PresentationFormat>
  <Paragraphs>587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Smart Medicine Dispenser</dc:title>
  <dc:subject>PptxGenJS Presentation</dc:subject>
  <dc:creator>PptxGenJS</dc:creator>
  <cp:lastModifiedBy>Kanmani Kannan</cp:lastModifiedBy>
  <cp:revision>1</cp:revision>
  <dcterms:created xsi:type="dcterms:W3CDTF">2026-04-09T19:03:29Z</dcterms:created>
  <dcterms:modified xsi:type="dcterms:W3CDTF">2026-04-10T06:42:50Z</dcterms:modified>
</cp:coreProperties>
</file>